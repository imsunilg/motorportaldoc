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10456B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3566160"/>
            <a:ext cx="4754880" cy="475488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10456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 ·  MOTOR  ·  BULK POLICY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1828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Portal Application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Walkthrough, Functional Flow &amp; Data Model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 Excel-to-Policy issuance platform for Motor Class-E / Class-F products — covering upload, validation, premium &amp; GST computation, proposal creation, real-time payment tagging and policy generation.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98348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62539"/>
          </a:solidFill>
          <a:ln w="12700">
            <a:solidFill>
              <a:srgbClr val="E8730C"/>
            </a:solidFill>
            <a:prstDash val="solid"/>
          </a:ln>
          <a:effectLst>
            <a:outerShdw sx="100000" sy="100000" kx="0" ky="0" algn="bl" rotWithShape="0" blurRad="101600" dist="38100" dir="16200000">
              <a:srgbClr val="0A253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5102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22960" y="5650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498348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62539"/>
          </a:solidFill>
          <a:ln w="12700">
            <a:solidFill>
              <a:srgbClr val="E8730C"/>
            </a:solidFill>
            <a:prstDash val="solid"/>
          </a:ln>
          <a:effectLst>
            <a:outerShdw sx="100000" sy="100000" kx="0" ky="0" algn="bl" rotWithShape="0" blurRad="101600" dist="38100" dir="16200000">
              <a:srgbClr val="0A253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5102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10128" y="5650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/ BATCH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97296" y="498348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62539"/>
          </a:solidFill>
          <a:ln w="12700">
            <a:solidFill>
              <a:srgbClr val="E8730C"/>
            </a:solidFill>
            <a:prstDash val="solid"/>
          </a:ln>
          <a:effectLst>
            <a:outerShdw sx="100000" sy="100000" kx="0" ky="0" algn="bl" rotWithShape="0" blurRad="101600" dist="38100" dir="16200000">
              <a:srgbClr val="0A2535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97296" y="5102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797296" y="5650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84464" y="498348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062539"/>
          </a:solidFill>
          <a:ln w="12700">
            <a:solidFill>
              <a:srgbClr val="E8730C"/>
            </a:solidFill>
            <a:prstDash val="solid"/>
          </a:ln>
          <a:effectLst>
            <a:outerShdw sx="100000" sy="100000" kx="0" ky="0" algn="bl" rotWithShape="0" blurRad="101600" dist="38100" dir="16200000">
              <a:srgbClr val="0A2535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84464" y="5102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84464" y="5650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01952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08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66360" y="1755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1828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Authentication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2176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entry to the MIBL portal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627632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19088" y="1901952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208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81360" y="1755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132320" y="1828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Selection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32320" y="2176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class + process, mandatory both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2761488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" y="3035808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28895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417320" y="29626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 &amp; Batch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33101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200 cases, unique Batch ID created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17920" y="2761488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19088" y="3035808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15468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81360" y="28895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132320" y="296265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Summary &amp; Validation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132320" y="33101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/ invalid split, processing controls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502920" y="3895344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04088" y="4169664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8853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6636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1417320" y="40965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Policy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417320" y="44439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→ GST → Proposal → Payment → Policy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6217920" y="3895344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19088" y="4169664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288536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81360" y="4023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0"/>
          <p:cNvSpPr/>
          <p:nvPr/>
        </p:nvSpPr>
        <p:spPr>
          <a:xfrm>
            <a:off x="7132320" y="40965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Search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7132320" y="444398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issue report export, search &amp; print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502920" y="5029200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04088" y="5303520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422392"/>
            <a:ext cx="292608" cy="29260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166360" y="51572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44" name="Text 35"/>
          <p:cNvSpPr/>
          <p:nvPr/>
        </p:nvSpPr>
        <p:spPr>
          <a:xfrm>
            <a:off x="1417320" y="5230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1417320" y="5577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 remarks &amp; cleanup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6217920" y="5029200"/>
            <a:ext cx="5532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6419088" y="5303520"/>
            <a:ext cx="530352" cy="530352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422392"/>
            <a:ext cx="292608" cy="29260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881360" y="51572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D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50" name="Text 40"/>
          <p:cNvSpPr/>
          <p:nvPr/>
        </p:nvSpPr>
        <p:spPr>
          <a:xfrm>
            <a:off x="7132320" y="5230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(ER)</a:t>
            </a:r>
            <a:endParaRPr lang="en-US" sz="1500" dirty="0"/>
          </a:p>
        </p:txBody>
      </p:sp>
      <p:sp>
        <p:nvSpPr>
          <p:cNvPr id="51" name="Text 41"/>
          <p:cNvSpPr/>
          <p:nvPr/>
        </p:nvSpPr>
        <p:spPr>
          <a:xfrm>
            <a:off x="7132320" y="5577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keys &amp; batch state machine</a:t>
            </a:r>
            <a:endParaRPr lang="en-US" sz="1150" dirty="0"/>
          </a:p>
        </p:txBody>
      </p:sp>
      <p:sp>
        <p:nvSpPr>
          <p:cNvPr id="52" name="Text 42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SYSTEM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Motor Portal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Portal is an operations console for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motor-insurance policy issuance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Operators upload an Excel of vehicle/customer records and the platform drives each record through validation, premium &amp; GST computation, proposal creation, real-time payment tagging and final policy generation — entirely batch-driven.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3227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35387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Class-E, Motor Class-F &amp; Eicher Motor — selected per upload session.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3063240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4528" y="32278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24528" y="35387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 · Batch Summary · Report · Search &amp; Print · Policy Cancel Upload.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4645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LIMIT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4088" y="49560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uploaded file carries a maximum of 200 cases for controlled processing.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23360" y="4480560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4645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BALANCE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24528" y="49560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 panel checks Cash-Deposit balance against the chosen Master Policy.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1554480"/>
            <a:ext cx="4069080" cy="4663440"/>
          </a:xfrm>
          <a:prstGeom prst="roundRect">
            <a:avLst>
              <a:gd name="adj" fmla="val 2247"/>
            </a:avLst>
          </a:prstGeom>
          <a:solidFill>
            <a:srgbClr val="0A3A5C"/>
          </a:solidFill>
          <a:ln/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8120" y="17830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TECH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18120" y="2478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web portal (MIBL)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2889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18120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· Validation · Premium · GST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18120" y="3776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Service → Proposal No.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18120" y="4425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Service (real-time tagging)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18120" y="4837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1812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Service → Policy No. + Cert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5486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18120" y="5724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store + audit log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4980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Stages, One Continuous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062539"/>
          </a:solidFill>
          <a:ln w="1270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121408"/>
            <a:ext cx="713232" cy="713232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8600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45920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29992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≤200 records validated; unique Batch ID created.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692908"/>
            <a:ext cx="201168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15968" y="1828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062539"/>
          </a:solidFill>
          <a:ln w="1270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2121408"/>
            <a:ext cx="713232" cy="713232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28600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58968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58968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90288" y="29992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checks; failures move to Invalid Records.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2692908"/>
            <a:ext cx="201168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29016" y="1828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062539"/>
          </a:solidFill>
          <a:ln w="1270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85048" y="2121408"/>
            <a:ext cx="713232" cy="713232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8600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272016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272016" y="2395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+ GST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403336" y="29992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add-ons, discount, net premium and GST.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02920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062539"/>
          </a:solidFill>
          <a:ln w="1270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58952" y="4407408"/>
            <a:ext cx="713232" cy="713232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57200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645920" y="444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645920" y="4681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777240" y="52852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No. generated for each valid case.</a:t>
            </a:r>
            <a:endParaRPr lang="en-US" sz="1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4978908"/>
            <a:ext cx="201168" cy="23774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315968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062539"/>
          </a:solidFill>
          <a:ln w="1270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572000" y="4407408"/>
            <a:ext cx="713232" cy="713232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6592" y="4572000"/>
            <a:ext cx="384048" cy="38404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58968" y="444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5458968" y="4681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Tagging</a:t>
            </a:r>
            <a:endParaRPr lang="en-US" sz="1700" dirty="0"/>
          </a:p>
        </p:txBody>
      </p:sp>
      <p:sp>
        <p:nvSpPr>
          <p:cNvPr id="36" name="Text 26"/>
          <p:cNvSpPr/>
          <p:nvPr/>
        </p:nvSpPr>
        <p:spPr>
          <a:xfrm>
            <a:off x="4590288" y="52852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Service tags payment in real time.</a:t>
            </a:r>
            <a:endParaRPr lang="en-US" sz="12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848" y="4978908"/>
            <a:ext cx="201168" cy="237744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8129016" y="4114800"/>
            <a:ext cx="3611880" cy="1965960"/>
          </a:xfrm>
          <a:prstGeom prst="roundRect">
            <a:avLst>
              <a:gd name="adj" fmla="val 4186"/>
            </a:avLst>
          </a:prstGeom>
          <a:solidFill>
            <a:srgbClr val="062539"/>
          </a:solidFill>
          <a:ln w="1270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8385048" y="4407408"/>
            <a:ext cx="713232" cy="713232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9640" y="4572000"/>
            <a:ext cx="384048" cy="38404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272016" y="444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9272016" y="4681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Print</a:t>
            </a:r>
            <a:endParaRPr lang="en-US" sz="1700" dirty="0"/>
          </a:p>
        </p:txBody>
      </p:sp>
      <p:sp>
        <p:nvSpPr>
          <p:cNvPr id="43" name="Text 31"/>
          <p:cNvSpPr/>
          <p:nvPr/>
        </p:nvSpPr>
        <p:spPr>
          <a:xfrm>
            <a:off x="8403336" y="528523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No. issued; bulk certificate print enabled.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status advances automatically:  UPLOADED → VALIDATED → PREMIUM_CALCULATED → GST_CALCULATED → PROPOSAL_CREATED → PAYMENT_PROCESSED → POLICY_CREATED → PRINTED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— Secure Portal Entry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03553"/>
            <a:ext cx="7415784" cy="3370935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_Login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76705"/>
            <a:ext cx="7269480" cy="32246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11063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1_LoginPage.png — operator sign-in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authenticates with Login ID and Password.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“Forgot Password” supports self-service credential reset.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sign-in establishes the session (Welcome: admin) and lands on the Dashboard.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context is reused for every downstream service call.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Process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08670"/>
            <a:ext cx="7415784" cy="33607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1822"/>
            <a:ext cx="7269480" cy="32143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05946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2_Dashboard.png — Data Upload Product Selection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Select Product — Motor Class-E, Class-F or Eicher Motor.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Select Process — Excel Upload, Batch Summary, Report, Search &amp; Print, Policy Cancel Upload.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selections are mandatory before Submit.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Here: Class-E + Motor Excel Upload chosen to begin issuance.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 Balance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10445"/>
            <a:ext cx="7415784" cy="3357151"/>
          </a:xfrm>
          <a:prstGeom prst="roundRect">
            <a:avLst>
              <a:gd name="adj" fmla="val 163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3_Check_CD_Balnce_in_Dashboard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83597"/>
            <a:ext cx="7269480" cy="32108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04171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3_Check_CD_Balnce_in_Dashboard_login.png — side panel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“View CD Balance” side panel opens over the dashboard.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picks a Master Policy and supplies Customer No. / CDBG No.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 the available Cash-Deposit balance is shown (e.g. 6,649,169.00).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sufficient funds exist before policies consume premium.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EXCEL UPLOAD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Class-E Upload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873189"/>
            <a:ext cx="7415784" cy="3431661"/>
          </a:xfrm>
          <a:prstGeom prst="roundRect">
            <a:avLst>
              <a:gd name="adj" fmla="val 159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4_Class_E_Upload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46341"/>
            <a:ext cx="7269480" cy="32853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41427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4_Class_E_Upload_page.png — file entry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browses and selects the Class-E Excel file, then presses Upload.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Excel template is downloadable to enforce the correct layout.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enforced: the file must not contain any blank rows.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names, sequence and data types are validated on upload.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EXCEL UPLOAD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Excel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878980"/>
            <a:ext cx="7415784" cy="3420079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5_Uploader_open_for_upload_class_E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52132"/>
            <a:ext cx="7269480" cy="32737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35636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5_Uploader_open_for_upload_class_E_file.png — OS file picker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file chooser opens for the operator to pick the Class-E workbook.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prepared upload file (e.g. Class_E…) should be chosen.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and confirming returns the path to the Choose-file field.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then streams the workbook to the server for parsing.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EXCEL UPLOAD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Success — Batch Created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01706"/>
            <a:ext cx="7415784" cy="337462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6_File_Uploaded_and_batch_cre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74858"/>
            <a:ext cx="7269480" cy="32283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12910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6_File_Uploaded_and_batch_created.png — Batch ID 102983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“Record 2 uploaded Successfully. Batch ID: 102983”.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Batch ID groups all records from this file.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status becomes UPLOADED and is now ready to process.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“Process current batch…” lets the operator proceed immediately.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BATCH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to Motor Batch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0A3A5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49070"/>
            <a:ext cx="7415784" cy="3279899"/>
          </a:xfrm>
          <a:prstGeom prst="roundRect">
            <a:avLst>
              <a:gd name="adj" fmla="val 167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7_select_Batch_summary_to_process_the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22222"/>
            <a:ext cx="7269480" cy="31335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265546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7_select_Batch_summary_to_process_the_file.png — process selection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on the dashboard the operator selects Motor Batch Summary.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stays Class-E; process now targets the batch console.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opens the summary &amp; payment-processing workspace.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control room for validation, proposal and payment.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BATCH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Summary &amp; Counters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36303"/>
            <a:ext cx="7415784" cy="3305434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9_Batch_Summery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09455"/>
            <a:ext cx="7269480" cy="3159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278313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9_Batch_Summery_List.png — summary grid with action buttons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Transaction From/To Date to list batches.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Counters: Total, Valid, Invalid, Pending for Batch Processing, Payment Pending / Processed.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per batch: Batch ID Processing, Reason for Invalid, Payment Processing, Bulk Print.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102983 shows 2 total records, all pending for processing.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Processing — Proposals Created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75789"/>
            <a:ext cx="7415784" cy="3226461"/>
          </a:xfrm>
          <a:prstGeom prst="roundRect">
            <a:avLst>
              <a:gd name="adj" fmla="val 17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0_Successful_proposal_cre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48941"/>
            <a:ext cx="7269480" cy="30801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238827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10_Successful_proposal_created.png — proposals for Batch 102983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“Batch ID Processing” validates each case, then prices it.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computed (Base + Add-ons − Discount, plus GST).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No. is generated per record (e.g. 1202304500/01).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 read “Successful Proposal Created”; status → PROPOSAL_CREATED.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PAYMENT &amp; POLICY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Tagging → Policy Generated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67987"/>
            <a:ext cx="7415784" cy="3242067"/>
          </a:xfrm>
          <a:prstGeom prst="roundRect">
            <a:avLst>
              <a:gd name="adj" fmla="val 1692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1_Successful_Payment_and_Policy_Cre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41139"/>
            <a:ext cx="7269480" cy="30957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246629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11_Successful_Payment_and_Policy_Created.png — policies for Batch 102983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“Payment Processing” calls the PF Service in real time.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Proposal No. → Payment Tagging → Policy Generation.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receives a Policy No. (e.g. 3010/A/443668109/00/000).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“Successful Policy Generated”; status → POLICY_CREATED; Bulk Print enabled.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REPORTS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Motor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869658"/>
            <a:ext cx="7415784" cy="3438725"/>
          </a:xfrm>
          <a:prstGeom prst="roundRect">
            <a:avLst>
              <a:gd name="adj" fmla="val 1595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2_Policy_Upload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42810"/>
            <a:ext cx="7269480" cy="32924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344958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12_Policy_Upload_Report.png — process selection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picks Motor Report on the dashboard.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extract a policy-upload / issuance report.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context (Class-E) carries into the report tab.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opens the Motor Report workspace.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REPORTS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Report — Export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26032"/>
            <a:ext cx="7415784" cy="3325975"/>
          </a:xfrm>
          <a:prstGeom prst="roundRect">
            <a:avLst>
              <a:gd name="adj" fmla="val 165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3_Policy_Report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99184"/>
            <a:ext cx="7269480" cy="31796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288584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13_Policy_Report_page.png — Motor Report Tab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Report Type (e.g. Policy Issue Report).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Transaction From Date and To Date as the window.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 produces a downloadable Excel.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reconciliation and policy-upload reporting.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SEARCH &amp; 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Search &amp; Print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2020564"/>
            <a:ext cx="7415784" cy="3136913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4_Policy_Search_Option_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93716"/>
            <a:ext cx="7269480" cy="29906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194052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14_Policy_Search_Option_in_dashboard.png — process selection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selects Search &amp; Print Policy.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single-policy lookup and certificate print.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Class-E product context is retained.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opens the search &amp; print screen.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SEARCH &amp; 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Policy &amp; Print Certificate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730C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1969170"/>
            <a:ext cx="7415784" cy="3239700"/>
          </a:xfrm>
          <a:prstGeom prst="roundRect">
            <a:avLst>
              <a:gd name="adj" fmla="val 1693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5_Policy_Search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42322"/>
            <a:ext cx="7269480" cy="30933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245446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15_Policy_Search_page.png — Motor Search Policy &amp; Print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Engine, Chassis, TC or Policy Number.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grid shows Policy No., Make, Model, Chassis, Engine, Premium.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M&amp;M Scorpio-N, premium 7177, Policy 3010/B/443668109…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issues the policy certificate for that record.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Records &amp; Remarks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0" y="4572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457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" y="2341332"/>
            <a:ext cx="7415784" cy="2495377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pic>
        <p:nvPicPr>
          <p:cNvPr id="7" name="Image 0" descr="/mnt/user-data/uploads/16_Invalid_Records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14484"/>
            <a:ext cx="7269480" cy="23490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73284"/>
            <a:ext cx="741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16_Invalid_Records_.png — invalid summary for Batch 102820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01000" y="155448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57032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SCREEN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57032" y="2121408"/>
            <a:ext cx="3154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“Reason for Invalid” lists failed cases for a batch.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Transit Date, Invoice No., Engine No., Chassis No., Error Remarks.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remark: “Engine and Chassis number already registered”.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“Remove All Invalid Entries” cleans the batch so valid records proceed.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State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1122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33856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76" y="2212848"/>
            <a:ext cx="201168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55264" y="196596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01568" y="21122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22192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2212848"/>
            <a:ext cx="201168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43600" y="196596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089904" y="21122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10528" y="19659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PREMIUM_CALCULATED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24612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13232" y="33924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33856" y="32461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GST_CALCULATED</a:t>
            </a:r>
            <a:endParaRPr lang="en-US" sz="12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3493008"/>
            <a:ext cx="201168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55264" y="324612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401568" y="33924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822192" y="32461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PROPOSAL_CREATED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493008"/>
            <a:ext cx="201168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943600" y="324612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089904" y="33924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10528" y="32461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PAYMENT_PENDING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66928" y="452628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713232" y="46725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133856" y="45262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PAYMENT_PROCESSED</a:t>
            </a:r>
            <a:endParaRPr lang="en-US" sz="12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4773168"/>
            <a:ext cx="201168" cy="219456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3255264" y="452628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062539"/>
          </a:solidFill>
          <a:ln w="15240">
            <a:solidFill>
              <a:srgbClr val="10456B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3401568" y="46725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822192" y="45262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POLICY_CREATED</a:t>
            </a:r>
            <a:endParaRPr lang="en-US" sz="12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712" y="4773168"/>
            <a:ext cx="201168" cy="219456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943600" y="4526280"/>
            <a:ext cx="2395728" cy="713232"/>
          </a:xfrm>
          <a:prstGeom prst="roundRect">
            <a:avLst>
              <a:gd name="adj" fmla="val 12821"/>
            </a:avLst>
          </a:prstGeom>
          <a:solidFill>
            <a:srgbClr val="E8730C"/>
          </a:solidFill>
          <a:ln w="15240">
            <a:solidFill>
              <a:srgbClr val="E8730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6089904" y="46725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6" name="Text 28"/>
          <p:cNvSpPr/>
          <p:nvPr/>
        </p:nvSpPr>
        <p:spPr>
          <a:xfrm>
            <a:off x="6510528" y="452628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66928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failures branch records into an INVALID state; they are removed before the remaining valid cases advance to premium, proposal, payment and policy.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VALIDATION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Record Is Checked Against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56232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659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83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5528" y="2468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format &amp; extension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columns present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sequence &amp; names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blank rows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200 cases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27632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56232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9659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83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/ Datatype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0528" y="2468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 match per column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field values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Policy Number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mapping valid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913632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4142232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519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169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/ Duplicate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95528" y="4754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Number check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Number check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duplication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policy check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913632"/>
            <a:ext cx="553212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142232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2519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16966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10528" y="47548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calculation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 &amp; discount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calculation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balance sufficiency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(Detailed ER in Companion Doc)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828800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9222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USER_MASTER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auth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62072" y="1645920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08376" y="1828800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0" name="Text 8"/>
          <p:cNvSpPr/>
          <p:nvPr/>
        </p:nvSpPr>
        <p:spPr>
          <a:xfrm>
            <a:off x="3227832" y="179222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PRODUCT_MASTER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27832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Class-E / F / Eicher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21224" y="1645920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67528" y="1828800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4" name="Text 12"/>
          <p:cNvSpPr/>
          <p:nvPr/>
        </p:nvSpPr>
        <p:spPr>
          <a:xfrm>
            <a:off x="5586984" y="179222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FUNCTION_MASTER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86984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0376" y="1645920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26680" y="1828800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6"/>
          <p:cNvSpPr/>
          <p:nvPr/>
        </p:nvSpPr>
        <p:spPr>
          <a:xfrm>
            <a:off x="7946136" y="179222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46136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policy + CD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939528" y="1645920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85832" y="1828800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2" name="Text 20"/>
          <p:cNvSpPr/>
          <p:nvPr/>
        </p:nvSpPr>
        <p:spPr>
          <a:xfrm>
            <a:off x="10305288" y="1792224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BATCH_MASTER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05288" y="214884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header &amp;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706624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" y="2889504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BATCH_DETAIL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Per-case record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62072" y="2706624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008376" y="2889504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30" name="Text 28"/>
          <p:cNvSpPr/>
          <p:nvPr/>
        </p:nvSpPr>
        <p:spPr>
          <a:xfrm>
            <a:off x="3227832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INVALID_RECORDS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27832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cases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21224" y="2706624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367528" y="2889504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34" name="Text 32"/>
          <p:cNvSpPr/>
          <p:nvPr/>
        </p:nvSpPr>
        <p:spPr>
          <a:xfrm>
            <a:off x="5586984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PREMIUM_DETAILS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86984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/ add-on / net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80376" y="2706624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26680" y="2889504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38" name="Text 36"/>
          <p:cNvSpPr/>
          <p:nvPr/>
        </p:nvSpPr>
        <p:spPr>
          <a:xfrm>
            <a:off x="7946136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GST_DETAILS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946136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over premium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939528" y="2706624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85832" y="2889504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42" name="Text 40"/>
          <p:cNvSpPr/>
          <p:nvPr/>
        </p:nvSpPr>
        <p:spPr>
          <a:xfrm>
            <a:off x="10305288" y="2852928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PROPOSAL_MASTER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305288" y="3209544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numbers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3767328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9224" y="3950208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39136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PAYMENT_DETAILS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68680" y="42702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payment tagging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862072" y="3767328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008376" y="3950208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0" name="Text 48"/>
          <p:cNvSpPr/>
          <p:nvPr/>
        </p:nvSpPr>
        <p:spPr>
          <a:xfrm>
            <a:off x="3227832" y="39136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POLICY_MASTER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27832" y="42702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policies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221224" y="3767328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67528" y="3950208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4" name="Text 52"/>
          <p:cNvSpPr/>
          <p:nvPr/>
        </p:nvSpPr>
        <p:spPr>
          <a:xfrm>
            <a:off x="5586984" y="39136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POLICY_CERTIFICATE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586984" y="42702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certs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580376" y="3767328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726680" y="3950208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58" name="Text 56"/>
          <p:cNvSpPr/>
          <p:nvPr/>
        </p:nvSpPr>
        <p:spPr>
          <a:xfrm>
            <a:off x="7946136" y="39136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REPORT_LOG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946136" y="42702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939528" y="3767328"/>
            <a:ext cx="2212848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085832" y="3950208"/>
            <a:ext cx="128016" cy="128016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62" name="Text 60"/>
          <p:cNvSpPr/>
          <p:nvPr/>
        </p:nvSpPr>
        <p:spPr>
          <a:xfrm>
            <a:off x="10305288" y="391363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0305288" y="427024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trail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spine:  USER_MASTER ‖–∞ BATCH_MASTER ‖–∞ BATCH_DETAIL → PREMIUM → GST → PROPOSAL → PAYMENT → POLICY ‖–∞ CERTIFICATE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&amp; Service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0A3A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45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61488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712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4688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UI (MIBL)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" y="3630168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922776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03250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6301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Dashboard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31520" y="4791456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5084064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19379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791456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Search UI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325112" y="164592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25112" y="164592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E8730C"/>
          </a:solidFill>
          <a:ln/>
        </p:spPr>
      </p:sp>
      <p:sp>
        <p:nvSpPr>
          <p:cNvPr id="21" name="Text 16"/>
          <p:cNvSpPr/>
          <p:nvPr/>
        </p:nvSpPr>
        <p:spPr>
          <a:xfrm>
            <a:off x="4325112" y="1645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553712" y="2468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36592" y="2761488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7121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30952" y="24688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Service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553712" y="3630168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36592" y="3922776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3250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30952" y="36301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 GST Engine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4553712" y="4791456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736592" y="5084064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5193792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30952" y="4791456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Service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8147304" y="164592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CE5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35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147304" y="164592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0A3A5C"/>
          </a:solidFill>
          <a:ln/>
        </p:spPr>
      </p:sp>
      <p:sp>
        <p:nvSpPr>
          <p:cNvPr id="36" name="Text 28"/>
          <p:cNvSpPr/>
          <p:nvPr/>
        </p:nvSpPr>
        <p:spPr>
          <a:xfrm>
            <a:off x="8147304" y="1645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8375904" y="2468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8558784" y="2761488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2871216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153144" y="24688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Service (Payment)</a:t>
            </a:r>
            <a:endParaRPr lang="en-US" sz="1350" dirty="0"/>
          </a:p>
        </p:txBody>
      </p:sp>
      <p:sp>
        <p:nvSpPr>
          <p:cNvPr id="41" name="Shape 32"/>
          <p:cNvSpPr/>
          <p:nvPr/>
        </p:nvSpPr>
        <p:spPr>
          <a:xfrm>
            <a:off x="8375904" y="3630168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558784" y="3922776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4032504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153144" y="363016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Service</a:t>
            </a:r>
            <a:endParaRPr lang="en-US" sz="1350" dirty="0"/>
          </a:p>
        </p:txBody>
      </p:sp>
      <p:sp>
        <p:nvSpPr>
          <p:cNvPr id="45" name="Shape 35"/>
          <p:cNvSpPr/>
          <p:nvPr/>
        </p:nvSpPr>
        <p:spPr>
          <a:xfrm>
            <a:off x="8375904" y="4791456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558784" y="5084064"/>
            <a:ext cx="457200" cy="457200"/>
          </a:xfrm>
          <a:prstGeom prst="ellipse">
            <a:avLst/>
          </a:prstGeom>
          <a:solidFill>
            <a:srgbClr val="FBEBD9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8512" y="5193792"/>
            <a:ext cx="237744" cy="23774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9153144" y="4791456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Audit</a:t>
            </a:r>
            <a:endParaRPr lang="en-US" sz="1350" dirty="0"/>
          </a:p>
        </p:txBody>
      </p:sp>
      <p:sp>
        <p:nvSpPr>
          <p:cNvPr id="49" name="Text 38"/>
          <p:cNvSpPr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Portal Application  ·  Bulk Policy Generation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338560" y="64373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486400" cy="5486400"/>
          </a:xfrm>
          <a:prstGeom prst="ellipse">
            <a:avLst/>
          </a:prstGeom>
          <a:solidFill>
            <a:srgbClr val="10456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291840"/>
            <a:ext cx="4937760" cy="4937760"/>
          </a:xfrm>
          <a:prstGeom prst="ellipse">
            <a:avLst/>
          </a:prstGeom>
          <a:solidFill>
            <a:srgbClr val="E8730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" y="210312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Upload → Validated, Priced &amp; Issued in Bulk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Portal turns a single Excel batch into issued motor policies through a controlled, auditable pipeline —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4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validation → premium &amp; GST → proposal → real-time payment → policy → print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Invalid cases are isolated with clear remarks so clean records never stall.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deliverable: Motor Portal — ER Diagram &amp; Data Dictionary (Word).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Portal Application</dc:title>
  <dc:subject>PptxGenJS Presentation</dc:subject>
  <dc:creator>sirArya</dc:creator>
  <cp:lastModifiedBy>sirArya</cp:lastModifiedBy>
  <cp:revision>1</cp:revision>
  <dcterms:created xsi:type="dcterms:W3CDTF">2026-06-22T19:49:37Z</dcterms:created>
  <dcterms:modified xsi:type="dcterms:W3CDTF">2026-06-22T19:49:37Z</dcterms:modified>
</cp:coreProperties>
</file>